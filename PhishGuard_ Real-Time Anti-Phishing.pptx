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Outfit"/>
      <p:regular r:id="rId21"/>
      <p:bold r:id="rId22"/>
    </p:embeddedFont>
    <p:embeddedFont>
      <p:font typeface="Outfit Medium"/>
      <p:regular r:id="rId23"/>
      <p:bold r:id="rId24"/>
    </p:embeddedFont>
    <p:embeddedFont>
      <p:font typeface="Outfit SemiBold"/>
      <p:regular r:id="rId25"/>
      <p:bold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4AD23-D13C-4196-BA3D-E1278A8D4FE5}">
  <a:tblStyle styleId="{27F4AD23-D13C-4196-BA3D-E1278A8D4FE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OutfitMedium-bold.fntdata"/><Relationship Id="rId23" Type="http://schemas.openxmlformats.org/officeDocument/2006/relationships/font" Target="fonts/Outfi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SemiBold-bold.fntdata"/><Relationship Id="rId25" Type="http://schemas.openxmlformats.org/officeDocument/2006/relationships/font" Target="fonts/OutfitSemiBold-regular.fntdata"/><Relationship Id="rId28" Type="http://schemas.openxmlformats.org/officeDocument/2006/relationships/font" Target="fonts/SpaceGrotesk-bold.fntdata"/><Relationship Id="rId27" Type="http://schemas.openxmlformats.org/officeDocument/2006/relationships/font" Target="fonts/SpaceGrotes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a99a63b7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a99a63b7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a99a63b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da99a63b7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300" y="4310955"/>
            <a:ext cx="6629400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051744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06EE8"/>
                </a:solidFill>
                <a:latin typeface="Outfit Medium"/>
                <a:ea typeface="Outfit Medium"/>
                <a:cs typeface="Outfit Medium"/>
                <a:sym typeface="Outfit Medium"/>
              </a:rPr>
              <a:t>CYBERSECURITY RESEARCH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48989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PHISHGUARD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43465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A Real-Time Anti-Phishing Browser Extension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52050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Developed by </a:t>
            </a: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Worship Muguti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31050" y="1525325"/>
            <a:ext cx="55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4D4D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EXPLOITING TRUST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1050" y="2058400"/>
            <a:ext cx="1060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Phishing attacks remain the most pervasive cybersecurity threat, tricking users into revealing passwords and financial data.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260707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Bypasses standard vigilance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04685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Malicious links via Email &amp; Messaging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3541075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Automation is now a necessity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50" y="26074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475" y="30772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475" y="3547050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</a:t>
            </a:r>
            <a:r>
              <a:rPr b="1" lang="en-US" sz="31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ROCESS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57300" cy="5049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 title="Untitled Diagram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6701" y="942275"/>
            <a:ext cx="2795148" cy="578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2687"/>
            <a:ext cx="52387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52687"/>
            <a:ext cx="52387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REQUIREMENT ANALYSIS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3605212"/>
            <a:ext cx="46805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NEEDS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043362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Non-technical users require a seamless experience. Protection must be invisible until a threat is detected, using subtle alerts rather than intrusive popups.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72275" y="3605212"/>
            <a:ext cx="46805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NEEDS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4043362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Cross-browser compatibility (starting with Chrome). Low resource footprint is critical to ensure zero degradation of browsing speed.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900362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MARKET GAPS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7"/>
          <p:cNvGraphicFramePr/>
          <p:nvPr/>
        </p:nvGraphicFramePr>
        <p:xfrm>
          <a:off x="571500" y="2457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{27F4AD23-D13C-4196-BA3D-E1278A8D4FE5}</a:tableStyleId>
              </a:tblPr>
              <a:tblGrid>
                <a:gridCol w="3060650"/>
                <a:gridCol w="2494350"/>
                <a:gridCol w="5494000"/>
              </a:tblGrid>
              <a:tr h="7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Existing 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Primary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F2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The PhishGuard Advantage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7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6EDF3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Google Safe Browsing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Blacklist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Real-time ML Analysis for Zero-day threats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7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6EDF3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Norton Safe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Proprietary Lists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Open Source Transparency &amp; Hourly Updates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70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6EDF3"/>
                          </a:solidFill>
                          <a:latin typeface="Outfit SemiBold"/>
                          <a:ea typeface="Outfit SemiBold"/>
                          <a:cs typeface="Outfit SemiBold"/>
                          <a:sym typeface="Outfit SemiBold"/>
                        </a:rPr>
                        <a:t>Avast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Bulky Extension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B949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Lightweight Client-side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7"/>
          <p:cNvSpPr/>
          <p:nvPr/>
        </p:nvSpPr>
        <p:spPr>
          <a:xfrm>
            <a:off x="571500" y="3810000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3228975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71500" y="32289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632150" y="3810000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632150" y="3228975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126509" y="3810000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126509" y="3228975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11610975" y="32289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495800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3914775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9147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632150" y="4495800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632150" y="3914775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126509" y="4495800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6126509" y="3914775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1610975" y="39147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181600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1500" y="4600575"/>
            <a:ext cx="30606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46005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32150" y="5181600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632150" y="4600575"/>
            <a:ext cx="24943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126509" y="5181600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126509" y="4600575"/>
            <a:ext cx="54939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1610975" y="4600575"/>
            <a:ext cx="952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268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52687"/>
            <a:ext cx="349254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52687"/>
            <a:ext cx="349254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SOURCE INTELLIGENCE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962025" y="36052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PHISHTANK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62025" y="4043362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Community-driven blacklist with hourly API updates. Core of our dual-layered lookup system.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740324" y="36052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OPENPHISH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740324" y="4043362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Specialized active feed. PhishGuard accounts for the 12-hour free-tier delay.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18624" y="36052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URLHAUS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518624" y="4043362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Used to cross-reference malware distribution domains for multi-threat detection.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9003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900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900362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DETECTION FRESHNESS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46339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Update frequency is the #1 factor in catching "Short-lived" phishing pages.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89584"/>
            <a:ext cx="5238750" cy="29646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LAYER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31038" y="2299709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CLASSIFICATION FEATURES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772275" y="2780109"/>
            <a:ext cx="4680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 ANALYSIS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772275" y="3218259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The classifier calculates a risk score for any URL not found on established blacklists, identifying novel threats in milliseconds.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52500" y="2608659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URL Features: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Length, IP address presence, and suspicious character counts.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52500" y="3370659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Domain Data: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Age of domain, registration length, and keyword red-flags.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52500" y="4132659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Algorithms: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Random Forest and Decision Trees via Scikit-learn.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1521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1352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5521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GOALS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06228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98%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395787"/>
            <a:ext cx="523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IF EVERYTHING WORKS CORRECTLY, IT SHOULD HAVE A </a:t>
            </a:r>
            <a:r>
              <a:rPr b="0" i="0" lang="en-US" sz="18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DETECTION ACCURACY TARGET OF 98</a:t>
            </a:r>
            <a:r>
              <a:rPr lang="en-US" sz="1800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%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81750" y="3139738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STANDARDS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3552825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My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focus is minimizing the </a:t>
            </a:r>
            <a:r>
              <a:rPr b="1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False Positive Rate</a:t>
            </a: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 to ensure the extension remains helpful rather than intrusive. Success is measured by accuracy vs browser load impact.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 FEASIBILITY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2131825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PROVEN STACK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2810775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Leveraging well-documented APIs like Chrome Extensions and PhishTank. The ML component is built using industry-standard Python Scikit-learn.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4197125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The solution is financially viable, relying entirely on open-source tools and free API tiers, keeping development costs minimal.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DEVELOPMENT ROADMAP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3871912"/>
            <a:ext cx="11049000" cy="190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10733" y="406241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1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4281487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Structure &amp; Chrome UI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3383413" y="31765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2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3444180" y="3395662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Real-time Interceptor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256094" y="406241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3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316860" y="4281487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Blacklist Integration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128774" y="317658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4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189541" y="3395662"/>
            <a:ext cx="24306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ML API Deployment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1710630" y="37957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B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4583310" y="37957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B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455991" y="37957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B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0328671" y="37957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2FF"/>
          </a:solidFill>
          <a:ln cap="flat" cmpd="sng" w="38100">
            <a:solidFill>
              <a:srgbClr val="0B0E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</a:t>
            </a:r>
            <a:r>
              <a:rPr b="1" lang="en-US" sz="315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MONSTRATION OF HOW THE EXTENTION SHOULD WORK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571500"/>
            <a:ext cx="57300" cy="5049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573950" y="2907500"/>
            <a:ext cx="3044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E6EDF3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https://youtu.be/sP9XxmjJkEc?si=M0rXoyCeZM9924sS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295275" y="254793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FUTURE OF PHISHGUARD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2286000" y="3281362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Expanding protection to Firefox and Edge, implementing real-time email content analysis, and launching a centrali</a:t>
            </a:r>
            <a:r>
              <a:rPr lang="en-US" sz="1800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ed enterprise dashboard for organi</a:t>
            </a:r>
            <a:r>
              <a:rPr lang="en-US" sz="1800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S</a:t>
            </a:r>
            <a:r>
              <a:rPr b="0" i="0" lang="en-US" sz="1800" u="none" cap="none" strike="noStrike">
                <a:solidFill>
                  <a:srgbClr val="E6EDF3"/>
                </a:solidFill>
                <a:latin typeface="Outfit"/>
                <a:ea typeface="Outfit"/>
                <a:cs typeface="Outfit"/>
                <a:sym typeface="Outfit"/>
              </a:rPr>
              <a:t>ational threat monitoring.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295275" y="2081212"/>
            <a:ext cx="1160145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571500" y="348138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06EE8"/>
                </a:solidFill>
                <a:latin typeface="Outfit Medium"/>
                <a:ea typeface="Outfit Medium"/>
                <a:cs typeface="Outfit Medium"/>
                <a:sym typeface="Outfit Medium"/>
              </a:rPr>
              <a:t>Secure your browsing experience with PhishGuard.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571500" y="42052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Worship Muguti | Project Lead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71500" y="44910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Outfit"/>
                <a:ea typeface="Outfit"/>
                <a:cs typeface="Outfit"/>
                <a:sym typeface="Outfit"/>
              </a:rPr>
              <a:t>Real-Time Cybersecurity Solutions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